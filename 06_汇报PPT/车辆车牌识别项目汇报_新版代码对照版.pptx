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d83d8b44924722" /><Relationship Type="http://schemas.openxmlformats.org/officeDocument/2006/relationships/extended-properties" Target="/docProps/app.xml" Id="R5d6e52e647cf4363" /><Relationship Type="http://schemas.openxmlformats.org/officeDocument/2006/relationships/officeDocument" Target="/ppt/presentation.xml" Id="Rff0473f439244c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567d8ae6084f44"/>
  </p:sldMasterIdLst>
  <p:notesMasterIdLst>
    <p:notesMasterId xmlns:r="http://schemas.openxmlformats.org/officeDocument/2006/relationships" r:id="Rbf88e1a606494768"/>
  </p:notesMasterIdLst>
  <p:sldIdLst>
    <p:sldId xmlns:r="http://schemas.openxmlformats.org/officeDocument/2006/relationships" id="256" r:id="Rd2ea6d03bda14bc1"/>
    <p:sldId xmlns:r="http://schemas.openxmlformats.org/officeDocument/2006/relationships" id="257" r:id="Rfb898242d5794b31"/>
    <p:sldId xmlns:r="http://schemas.openxmlformats.org/officeDocument/2006/relationships" id="258" r:id="R5932e863342c4bda"/>
    <p:sldId xmlns:r="http://schemas.openxmlformats.org/officeDocument/2006/relationships" id="259" r:id="R44afe85cd02d42c7"/>
    <p:sldId xmlns:r="http://schemas.openxmlformats.org/officeDocument/2006/relationships" id="260" r:id="R2838b064f96849d5"/>
    <p:sldId xmlns:r="http://schemas.openxmlformats.org/officeDocument/2006/relationships" id="261" r:id="Rd0ccaa272e514538"/>
    <p:sldId xmlns:r="http://schemas.openxmlformats.org/officeDocument/2006/relationships" id="262" r:id="R5982f93b73794aed"/>
    <p:sldId xmlns:r="http://schemas.openxmlformats.org/officeDocument/2006/relationships" id="263" r:id="R9062cdfcd8db4b04"/>
    <p:sldId xmlns:r="http://schemas.openxmlformats.org/officeDocument/2006/relationships" id="264" r:id="R52d8df294485470a"/>
    <p:sldId xmlns:r="http://schemas.openxmlformats.org/officeDocument/2006/relationships" id="265" r:id="R5dfcef8bab8d48fc"/>
    <p:sldId xmlns:r="http://schemas.openxmlformats.org/officeDocument/2006/relationships" id="266" r:id="Ra7ae00954f074cdb"/>
    <p:sldId xmlns:r="http://schemas.openxmlformats.org/officeDocument/2006/relationships" id="267" r:id="Re7efff8c76e4453b"/>
    <p:sldId xmlns:r="http://schemas.openxmlformats.org/officeDocument/2006/relationships" id="268" r:id="R0f7877b96c384407"/>
    <p:sldId xmlns:r="http://schemas.openxmlformats.org/officeDocument/2006/relationships" id="269" r:id="R346ceb3551c6435e"/>
    <p:sldId xmlns:r="http://schemas.openxmlformats.org/officeDocument/2006/relationships" id="270" r:id="R268c4f2dd2d74bde"/>
    <p:sldId xmlns:r="http://schemas.openxmlformats.org/officeDocument/2006/relationships" id="271" r:id="R0e74b7950c5046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7511860863443e" /><Relationship Type="http://schemas.openxmlformats.org/officeDocument/2006/relationships/slideMaster" Target="/ppt/slideMasters/slideMaster1.xml" Id="R98567d8ae6084f44" /><Relationship Type="http://schemas.openxmlformats.org/officeDocument/2006/relationships/notesMaster" Target="/ppt/notesMasters/notesMaster1.xml" Id="Rbf88e1a606494768" /><Relationship Type="http://schemas.openxmlformats.org/officeDocument/2006/relationships/presProps" Target="/ppt/presProps.xml" Id="Rcf09446f81e64fab" /><Relationship Type="http://schemas.openxmlformats.org/officeDocument/2006/relationships/tableStyles" Target="/ppt/tableStyles.xml" Id="R04cb9aacfc9441d8" /><Relationship Type="http://schemas.openxmlformats.org/officeDocument/2006/relationships/slide" Target="/ppt/slides/slide1.xml" Id="Rd2ea6d03bda14bc1" /><Relationship Type="http://schemas.openxmlformats.org/officeDocument/2006/relationships/slide" Target="/ppt/slides/slide2.xml" Id="Rfb898242d5794b31" /><Relationship Type="http://schemas.openxmlformats.org/officeDocument/2006/relationships/slide" Target="/ppt/slides/slide3.xml" Id="R5932e863342c4bda" /><Relationship Type="http://schemas.openxmlformats.org/officeDocument/2006/relationships/slide" Target="/ppt/slides/slide4.xml" Id="R44afe85cd02d42c7" /><Relationship Type="http://schemas.openxmlformats.org/officeDocument/2006/relationships/slide" Target="/ppt/slides/slide5.xml" Id="R2838b064f96849d5" /><Relationship Type="http://schemas.openxmlformats.org/officeDocument/2006/relationships/slide" Target="/ppt/slides/slide6.xml" Id="Rd0ccaa272e514538" /><Relationship Type="http://schemas.openxmlformats.org/officeDocument/2006/relationships/slide" Target="/ppt/slides/slide7.xml" Id="R5982f93b73794aed" /><Relationship Type="http://schemas.openxmlformats.org/officeDocument/2006/relationships/slide" Target="/ppt/slides/slide8.xml" Id="R9062cdfcd8db4b04" /><Relationship Type="http://schemas.openxmlformats.org/officeDocument/2006/relationships/slide" Target="/ppt/slides/slide9.xml" Id="R52d8df294485470a" /><Relationship Type="http://schemas.openxmlformats.org/officeDocument/2006/relationships/slide" Target="/ppt/slides/slide10.xml" Id="R5dfcef8bab8d48fc" /><Relationship Type="http://schemas.openxmlformats.org/officeDocument/2006/relationships/slide" Target="/ppt/slides/slide11.xml" Id="Ra7ae00954f074cdb" /><Relationship Type="http://schemas.openxmlformats.org/officeDocument/2006/relationships/slide" Target="/ppt/slides/slide12.xml" Id="Re7efff8c76e4453b" /><Relationship Type="http://schemas.openxmlformats.org/officeDocument/2006/relationships/slide" Target="/ppt/slides/slide13.xml" Id="R0f7877b96c384407" /><Relationship Type="http://schemas.openxmlformats.org/officeDocument/2006/relationships/slide" Target="/ppt/slides/slide14.xml" Id="R346ceb3551c6435e" /><Relationship Type="http://schemas.openxmlformats.org/officeDocument/2006/relationships/slide" Target="/ppt/slides/slide15.xml" Id="R268c4f2dd2d74bde" /><Relationship Type="http://schemas.openxmlformats.org/officeDocument/2006/relationships/slide" Target="/ppt/slides/slide16.xml" Id="R0e74b7950c5046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5023f3217c43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193fea71d94721" /><Relationship Type="http://schemas.openxmlformats.org/officeDocument/2006/relationships/notesMaster" Target="/ppt/notesMasters/notesMaster1.xml" Id="Rb10e179730914b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aea1cbb4e64814" /><Relationship Type="http://schemas.openxmlformats.org/officeDocument/2006/relationships/notesMaster" Target="/ppt/notesMasters/notesMaster1.xml" Id="R49d9492b0dd94b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b52bf517474f75" /><Relationship Type="http://schemas.openxmlformats.org/officeDocument/2006/relationships/notesMaster" Target="/ppt/notesMasters/notesMaster1.xml" Id="Rb6d4fc5a63714f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adb898465b478d" /><Relationship Type="http://schemas.openxmlformats.org/officeDocument/2006/relationships/notesMaster" Target="/ppt/notesMasters/notesMaster1.xml" Id="R1bdf71af1f6c42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875f42c65c4c84" /><Relationship Type="http://schemas.openxmlformats.org/officeDocument/2006/relationships/notesMaster" Target="/ppt/notesMasters/notesMaster1.xml" Id="Ra68cd423179f48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ae0d4faa114141" /><Relationship Type="http://schemas.openxmlformats.org/officeDocument/2006/relationships/notesMaster" Target="/ppt/notesMasters/notesMaster1.xml" Id="R7418445b5e5448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287d91c14f4e2f" /><Relationship Type="http://schemas.openxmlformats.org/officeDocument/2006/relationships/notesMaster" Target="/ppt/notesMasters/notesMaster1.xml" Id="Rfbda1fb7b75542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0e63a1e2c0428f" /><Relationship Type="http://schemas.openxmlformats.org/officeDocument/2006/relationships/notesMaster" Target="/ppt/notesMasters/notesMaster1.xml" Id="Rb0b911262d394c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07b56bc6494de6" /><Relationship Type="http://schemas.openxmlformats.org/officeDocument/2006/relationships/notesMaster" Target="/ppt/notesMasters/notesMaster1.xml" Id="Rdb3dd37f283442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162effc5c84886" /><Relationship Type="http://schemas.openxmlformats.org/officeDocument/2006/relationships/notesMaster" Target="/ppt/notesMasters/notesMaster1.xml" Id="R3246deddadbc4d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12f5a333f1431f" /><Relationship Type="http://schemas.openxmlformats.org/officeDocument/2006/relationships/notesMaster" Target="/ppt/notesMasters/notesMaster1.xml" Id="R3d305e547e3d4c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0e952332484eb9" /><Relationship Type="http://schemas.openxmlformats.org/officeDocument/2006/relationships/notesMaster" Target="/ppt/notesMasters/notesMaster1.xml" Id="Rd0b822f830314a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f2cd6810164080" /><Relationship Type="http://schemas.openxmlformats.org/officeDocument/2006/relationships/notesMaster" Target="/ppt/notesMasters/notesMaster1.xml" Id="Rb434cec84b7840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9c65e00fd04e6e" /><Relationship Type="http://schemas.openxmlformats.org/officeDocument/2006/relationships/notesMaster" Target="/ppt/notesMasters/notesMaster1.xml" Id="R063ef3665ea34c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7b56f41d38457e" /><Relationship Type="http://schemas.openxmlformats.org/officeDocument/2006/relationships/notesMaster" Target="/ppt/notesMasters/notesMaster1.xml" Id="Rceeb7c2480e949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df4248a98b42c8" /><Relationship Type="http://schemas.openxmlformats.org/officeDocument/2006/relationships/notesMaster" Target="/ppt/notesMasters/notesMaster1.xml" Id="R32c6cfe0db7943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292a386f740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4f825814834247" /><Relationship Type="http://schemas.openxmlformats.org/officeDocument/2006/relationships/slideLayout" Target="/ppt/slideLayouts/slideLayout1.xml" Id="R9d96e5302cd04c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96e5302cd04c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098bc5f1a4dc7" /><Relationship Type="http://schemas.openxmlformats.org/officeDocument/2006/relationships/notesSlide" Target="/ppt/notesSlides/notesSlide1.xml" Id="R685ce22d16674e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ea455d4e04e03" /><Relationship Type="http://schemas.openxmlformats.org/officeDocument/2006/relationships/notesSlide" Target="/ppt/notesSlides/notesSlide2.xml" Id="R00ae499c4b3c40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1774c64934c70" /><Relationship Type="http://schemas.openxmlformats.org/officeDocument/2006/relationships/notesSlide" Target="/ppt/notesSlides/notesSlide3.xml" Id="R53492684212149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701bbeef74c8b" /><Relationship Type="http://schemas.openxmlformats.org/officeDocument/2006/relationships/notesSlide" Target="/ppt/notesSlides/notesSlide4.xml" Id="Rc50d9e1faf3a49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792b153fb4e30" /><Relationship Type="http://schemas.openxmlformats.org/officeDocument/2006/relationships/notesSlide" Target="/ppt/notesSlides/notesSlide5.xml" Id="R1fe1df4710e041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26fd60f994030" /><Relationship Type="http://schemas.openxmlformats.org/officeDocument/2006/relationships/notesSlide" Target="/ppt/notesSlides/notesSlide6.xml" Id="R8230a5dd80ee4e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8624545c640f4" /><Relationship Type="http://schemas.openxmlformats.org/officeDocument/2006/relationships/image" Target="/ppt/media/image.png" Id="R40258c6743fb43fd" /><Relationship Type="http://schemas.openxmlformats.org/officeDocument/2006/relationships/image" Target="/ppt/media/image2.png" Id="Rc259669b23cb4b9a" /><Relationship Type="http://schemas.openxmlformats.org/officeDocument/2006/relationships/image" Target="/ppt/media/image3.png" Id="R2e012ff630b44c0b" /><Relationship Type="http://schemas.openxmlformats.org/officeDocument/2006/relationships/image" Target="/ppt/media/image4.png" Id="R0e8142341b9d4899" /><Relationship Type="http://schemas.openxmlformats.org/officeDocument/2006/relationships/image" Target="/ppt/media/image5.png" Id="R272a3d96fa1548aa" /><Relationship Type="http://schemas.openxmlformats.org/officeDocument/2006/relationships/image" Target="/ppt/media/image6.png" Id="R3ed3b14584104d89" /><Relationship Type="http://schemas.openxmlformats.org/officeDocument/2006/relationships/image" Target="/ppt/media/image7.png" Id="R1018cc8290054f15" /><Relationship Type="http://schemas.openxmlformats.org/officeDocument/2006/relationships/image" Target="/ppt/media/image8.png" Id="R8c9b61766d444805" /><Relationship Type="http://schemas.openxmlformats.org/officeDocument/2006/relationships/image" Target="/ppt/media/image9.png" Id="Re0a72b9858784e1f" /><Relationship Type="http://schemas.openxmlformats.org/officeDocument/2006/relationships/image" Target="/ppt/media/image10.png" Id="R5cdf5ee03fad4c82" /><Relationship Type="http://schemas.openxmlformats.org/officeDocument/2006/relationships/image" Target="/ppt/media/image11.png" Id="R6d9facfc6d6040e4" /><Relationship Type="http://schemas.openxmlformats.org/officeDocument/2006/relationships/image" Target="/ppt/media/image12.png" Id="R2370bd73ec96435a" /><Relationship Type="http://schemas.openxmlformats.org/officeDocument/2006/relationships/image" Target="/ppt/media/image13.png" Id="R31879e7663694aab" /><Relationship Type="http://schemas.openxmlformats.org/officeDocument/2006/relationships/image" Target="/ppt/media/image14.png" Id="R53b5a12b44af4d0e" /><Relationship Type="http://schemas.openxmlformats.org/officeDocument/2006/relationships/image" Target="/ppt/media/image15.png" Id="R3bb78debd53e4f1f" /><Relationship Type="http://schemas.openxmlformats.org/officeDocument/2006/relationships/image" Target="/ppt/media/image16.png" Id="Rc79698c4d21c4e20" /><Relationship Type="http://schemas.openxmlformats.org/officeDocument/2006/relationships/image" Target="/ppt/media/image17.png" Id="R2e582e11c0a44b0c" /><Relationship Type="http://schemas.openxmlformats.org/officeDocument/2006/relationships/image" Target="/ppt/media/image18.png" Id="R8904733e07544d44" /><Relationship Type="http://schemas.openxmlformats.org/officeDocument/2006/relationships/image" Target="/ppt/media/image19.png" Id="R9af885d274604744" /><Relationship Type="http://schemas.openxmlformats.org/officeDocument/2006/relationships/image" Target="/ppt/media/image20.png" Id="R9bd2fbdc970e4295" /><Relationship Type="http://schemas.openxmlformats.org/officeDocument/2006/relationships/image" Target="/ppt/media/image21.png" Id="R7b6a86a3427f45bc" /><Relationship Type="http://schemas.openxmlformats.org/officeDocument/2006/relationships/image" Target="/ppt/media/image22.png" Id="Rf16cd060fa7b4a48" /><Relationship Type="http://schemas.openxmlformats.org/officeDocument/2006/relationships/image" Target="/ppt/media/image23.png" Id="R0156551f31b049d0" /><Relationship Type="http://schemas.openxmlformats.org/officeDocument/2006/relationships/image" Target="/ppt/media/image24.png" Id="R3b46e315445d4807" /><Relationship Type="http://schemas.openxmlformats.org/officeDocument/2006/relationships/image" Target="/ppt/media/image25.png" Id="Re452e0236e8b475e" /><Relationship Type="http://schemas.openxmlformats.org/officeDocument/2006/relationships/image" Target="/ppt/media/image26.png" Id="Rb6d235ab25774291" /><Relationship Type="http://schemas.openxmlformats.org/officeDocument/2006/relationships/image" Target="/ppt/media/image27.png" Id="R00e9cbca71c74aba" /><Relationship Type="http://schemas.openxmlformats.org/officeDocument/2006/relationships/image" Target="/ppt/media/image28.png" Id="R12fb2625a13c4c91" /><Relationship Type="http://schemas.openxmlformats.org/officeDocument/2006/relationships/image" Target="/ppt/media/image29.png" Id="Rcec02453aad941b1" /><Relationship Type="http://schemas.openxmlformats.org/officeDocument/2006/relationships/image" Target="/ppt/media/image30.png" Id="R73d27776e5f44a40" /><Relationship Type="http://schemas.openxmlformats.org/officeDocument/2006/relationships/image" Target="/ppt/media/image31.png" Id="Rf9ca57357c00457a" /><Relationship Type="http://schemas.openxmlformats.org/officeDocument/2006/relationships/image" Target="/ppt/media/image32.png" Id="R36ef049ca9814947" /><Relationship Type="http://schemas.openxmlformats.org/officeDocument/2006/relationships/image" Target="/ppt/media/image33.png" Id="Rce35bc87128042e9" /><Relationship Type="http://schemas.openxmlformats.org/officeDocument/2006/relationships/image" Target="/ppt/media/image34.png" Id="Rb5015f234ad44b50" /><Relationship Type="http://schemas.openxmlformats.org/officeDocument/2006/relationships/image" Target="/ppt/media/image35.png" Id="Rb6de571b3157400e" /><Relationship Type="http://schemas.openxmlformats.org/officeDocument/2006/relationships/image" Target="/ppt/media/image36.png" Id="R042adb8b36c44624" /><Relationship Type="http://schemas.openxmlformats.org/officeDocument/2006/relationships/notesSlide" Target="/ppt/notesSlides/notesSlide7.xml" Id="R33fb149c31c242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449ef14b94ee2" /><Relationship Type="http://schemas.openxmlformats.org/officeDocument/2006/relationships/image" Target="/ppt/media/image.jpeg" Id="R56aac4a255ff4d0f" /><Relationship Type="http://schemas.openxmlformats.org/officeDocument/2006/relationships/image" Target="/ppt/media/image37.png" Id="R78f59d58d6194e94" /><Relationship Type="http://schemas.openxmlformats.org/officeDocument/2006/relationships/notesSlide" Target="/ppt/notesSlides/notesSlide8.xml" Id="R3c95063476fb4a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18833797143c1" /><Relationship Type="http://schemas.openxmlformats.org/officeDocument/2006/relationships/image" Target="/ppt/media/image38.png" Id="R697a2ddb81a84891" /><Relationship Type="http://schemas.openxmlformats.org/officeDocument/2006/relationships/image" Target="/ppt/media/image2.jpeg" Id="R9df3db8752e44ec8" /><Relationship Type="http://schemas.openxmlformats.org/officeDocument/2006/relationships/notesSlide" Target="/ppt/notesSlides/notesSlide9.xml" Id="R80c445cc245e42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2f99057064a2f" /><Relationship Type="http://schemas.openxmlformats.org/officeDocument/2006/relationships/image" Target="/ppt/media/image39.png" Id="R6188c4c3322c4a53" /><Relationship Type="http://schemas.openxmlformats.org/officeDocument/2006/relationships/image" Target="/ppt/media/image40.png" Id="Rd4818b50a28c497f" /><Relationship Type="http://schemas.openxmlformats.org/officeDocument/2006/relationships/image" Target="/ppt/media/image41.png" Id="Rf4c9a6cecc8a4964" /><Relationship Type="http://schemas.openxmlformats.org/officeDocument/2006/relationships/notesSlide" Target="/ppt/notesSlides/notesSlide10.xml" Id="R50203cb431d343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20d76e54d4a74" /><Relationship Type="http://schemas.openxmlformats.org/officeDocument/2006/relationships/image" Target="/ppt/media/image42.png" Id="R85b48d3e004a4d7b" /><Relationship Type="http://schemas.openxmlformats.org/officeDocument/2006/relationships/image" Target="/ppt/media/image43.png" Id="R00fc6c34f72d4d6f" /><Relationship Type="http://schemas.openxmlformats.org/officeDocument/2006/relationships/image" Target="/ppt/media/image44.png" Id="R6d3dd07e0eb74099" /><Relationship Type="http://schemas.openxmlformats.org/officeDocument/2006/relationships/image" Target="/ppt/media/image45.png" Id="Rc1b8e840c0b546a5" /><Relationship Type="http://schemas.openxmlformats.org/officeDocument/2006/relationships/image" Target="/ppt/media/image46.png" Id="R2b310fe6dc1c4692" /><Relationship Type="http://schemas.openxmlformats.org/officeDocument/2006/relationships/image" Target="/ppt/media/image47.png" Id="Rc97807f04d8a4f30" /><Relationship Type="http://schemas.openxmlformats.org/officeDocument/2006/relationships/image" Target="/ppt/media/image48.png" Id="R8168617f4ee94051" /><Relationship Type="http://schemas.openxmlformats.org/officeDocument/2006/relationships/image" Target="/ppt/media/image49.png" Id="R80b97082c26c4679" /><Relationship Type="http://schemas.openxmlformats.org/officeDocument/2006/relationships/notesSlide" Target="/ppt/notesSlides/notesSlide11.xml" Id="R18f0be33195747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d522e435b4a2f" /><Relationship Type="http://schemas.openxmlformats.org/officeDocument/2006/relationships/notesSlide" Target="/ppt/notesSlides/notesSlide12.xml" Id="R4bf8872e6c214d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45c9abd804518" /><Relationship Type="http://schemas.openxmlformats.org/officeDocument/2006/relationships/notesSlide" Target="/ppt/notesSlides/notesSlide13.xml" Id="Rb714c7e567c64b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2cd856e294271" /><Relationship Type="http://schemas.openxmlformats.org/officeDocument/2006/relationships/notesSlide" Target="/ppt/notesSlides/notesSlide14.xml" Id="Rfa5c48c562264c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60d1f8b194317" /><Relationship Type="http://schemas.openxmlformats.org/officeDocument/2006/relationships/image" Target="/ppt/media/image50.png" Id="R1b23835ee0a04e26" /><Relationship Type="http://schemas.openxmlformats.org/officeDocument/2006/relationships/image" Target="/ppt/media/image51.png" Id="R2d640b66999645f1" /><Relationship Type="http://schemas.openxmlformats.org/officeDocument/2006/relationships/image" Target="/ppt/media/image52.png" Id="R15786e0f6bb143db" /><Relationship Type="http://schemas.openxmlformats.org/officeDocument/2006/relationships/image" Target="/ppt/media/image53.png" Id="R7c7d9c1886974a77" /><Relationship Type="http://schemas.openxmlformats.org/officeDocument/2006/relationships/image" Target="/ppt/media/image54.png" Id="Rcb2e12d06ee544bd" /><Relationship Type="http://schemas.openxmlformats.org/officeDocument/2006/relationships/image" Target="/ppt/media/image55.png" Id="R80a688487f324eb5" /><Relationship Type="http://schemas.openxmlformats.org/officeDocument/2006/relationships/image" Target="/ppt/media/image56.png" Id="Re6b298e5a9c84148" /><Relationship Type="http://schemas.openxmlformats.org/officeDocument/2006/relationships/image" Target="/ppt/media/image57.png" Id="Ra7f82d619eab4a1d" /><Relationship Type="http://schemas.openxmlformats.org/officeDocument/2006/relationships/notesSlide" Target="/ppt/notesSlides/notesSlide15.xml" Id="R626a107bbc4e4c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a67b67ad14a7b" /><Relationship Type="http://schemas.openxmlformats.org/officeDocument/2006/relationships/notesSlide" Target="/ppt/notesSlides/notesSlide16.xml" Id="R4e3f0148ed654c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021B9-F621-4979-AA64-61CB842E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ACFFA-CAEC-41C9-A19A-73A51ECA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8BBAF-ABD3-40B1-B378-78A0AE82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A7E60-296C-43DB-BA33-5DAAF292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FDBFE"/>
                </a:solidFill>
              </a:defRPr>
            </a:pPr>
            <a:r>
              <a:rPr sz="1650" b="1">
                <a:solidFill>
                  <a:srgbClr val="BFDBFE"/>
                </a:solidFill>
              </a:rPr>
              <a:t>课程项目汇报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CC8D9-4908-4496-8B67-1981B3A0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Pattern Recognition and Machine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12DDC-7BDC-45C5-96AD-5FD04BDC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B1F3A"/>
                </a:solidFill>
              </a:defRPr>
            </a:pPr>
            <a:r>
              <a:rPr sz="4200" b="1">
                <a:solidFill>
                  <a:srgbClr val="0B1F3A"/>
                </a:solidFill>
              </a:rPr>
              <a:t>车辆车牌识别系统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821D1-ABC8-4C01-B5D0-AB4BAF7C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基于图像处理、CCPD 数据集与位置专用 SVM 的实现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9721F-5FD5-4E8E-97D6-3D562ED0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6FAC2-242C-4CE4-94B4-FB8A879B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展示重点：数据集构建 · 车牌定位 · 字符分割 · 关键代码对照 · 实验验证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32871-B8E2-4239-B8EA-04BE2B37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76400"/>
            <a:ext cx="23812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2BF7F-4347-4966-A126-722B5CFC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57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图像处理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65940-CF5A-45AF-A498-3288F917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23812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354CA-5ED2-4FB4-B63D-6343B7CF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908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字符训练集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16807-66FB-4ADB-B8DB-7F681A3F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43300"/>
            <a:ext cx="23812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EFCE8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00FC5-7245-4E4D-AE2F-43CB95A3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24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5309"/>
                </a:solidFill>
              </a:defRPr>
            </a:pPr>
            <a:r>
              <a:rPr sz="1800" b="1">
                <a:solidFill>
                  <a:srgbClr val="B45309"/>
                </a:solidFill>
              </a:rPr>
              <a:t>SVM 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7EAD0-F487-4B3B-85F5-73CB407A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863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HSV 定位 -&gt; 透视矫正 -&gt; 投影分割 -&gt; HOG 特征 -&gt; 位置专用分类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C011D-63E4-42AB-9D8D-467D8604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10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30,000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22FCF-8598-45EE-8ED6-A62F2E2C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05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CCPD 抽样图像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4B52C-2239-48D3-AD6B-7F7055BF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10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F766E"/>
                </a:solidFill>
              </a:defRPr>
            </a:pPr>
            <a:r>
              <a:rPr sz="2850" b="1">
                <a:solidFill>
                  <a:srgbClr val="0F766E"/>
                </a:solidFill>
              </a:rPr>
              <a:t>38,558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0CD14-7490-4F76-9B06-2643317F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905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最终训练字符样本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4B00B-B998-46A9-AF59-BED51352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10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5803D"/>
                </a:solidFill>
              </a:defRPr>
            </a:pPr>
            <a:r>
              <a:rPr sz="2850" b="1">
                <a:solidFill>
                  <a:srgbClr val="15803D"/>
                </a:solidFill>
              </a:rPr>
              <a:t>17/17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B5766-D11D-4AC4-ABA7-C1479F1C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05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标注样本识别正确</a:t>
            </a:r>
          </a:p>
        </p:txBody>
      </p:sp>
    </p:spTree>
    <p:extLst>
      <p:ext uri="{BB962C8B-B14F-4D97-AF65-F5344CB8AC3E}">
        <p14:creationId xmlns:p14="http://schemas.microsoft.com/office/powerpoint/2010/main" val="1329451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034E33-E3E7-449F-A007-EFA72BC2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研究目标与任务拆解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56E09-9664-4225-AD30-8802B01E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D049B-A408-4042-B887-196D8E55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目标不是单次识别，而是建立从数据到模型再到验证的完整车牌识别流程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D2B69-D472-4826-BE23-17902D68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266950" cy="28575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DA629-60A5-4D39-A1B1-8F20DF85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BD718-A87E-4E97-82D6-198A4FE2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车辆图像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E55EB-EB31-4036-9062-6C90E220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1771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读取测试集中的车辆图片，保留原始图像用于后续结果对照。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D9E51-FB2F-4C0F-8592-4F2F1DE1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4A3B8"/>
                </a:solidFill>
              </a:defRPr>
            </a:pPr>
            <a:r>
              <a:rPr sz="1875" b="1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2A8BE-59E2-48F7-BF64-157301C3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09750"/>
            <a:ext cx="2266950" cy="28575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87666-0BD7-4C42-B818-EA55E5C6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76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定位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34740-5B0B-45E9-83F2-59A843C1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33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车牌区域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27F12-E5F0-4BEE-9243-9B99A602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38500"/>
            <a:ext cx="1771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利用蓝色车牌颜色特征、轮廓筛选和几何约束找到候选区域。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BD48C-29A8-4528-B14D-0DB5B6F8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4A3B8"/>
                </a:solidFill>
              </a:defRPr>
            </a:pPr>
            <a:r>
              <a:rPr sz="1875" b="1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7347B-D46D-4EAB-8FCD-10D7D4B4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2266950" cy="28575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55D2D-A07F-4082-8F9E-89B1749F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分割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50A1D-7F2C-496A-9A19-A56DE3D2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七个字符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781E1-70A2-45C2-AAE9-1DC201AE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1771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透视矫正、灰度化、二值化后用投影规则切出字符块。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9133C-F662-47B7-BFC9-4D3D9B7B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4A3B8"/>
                </a:solidFill>
              </a:defRPr>
            </a:pPr>
            <a:r>
              <a:rPr sz="1875" b="1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490F1-20BA-4A89-B01F-D52BB924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2266950" cy="28575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1A9C4-E758-40D4-8172-32582CB3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识别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AA6F1-DC5D-4384-AB69-C11C93BB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33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车牌号码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CDC7E-F94B-4ECC-B6E6-9D0D35BD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38500"/>
            <a:ext cx="1771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提取 HOG 特征，按车牌位置调用不同 SVM 分类器。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C5AAB-2AAE-4082-ADF1-D862A453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评价方式：查看每一步中间图像，统计车牌定位是否成功，并与人工确认的标签比较最终车牌字符串。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885187-2780-46CB-8CFD-EA82D6A9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EFD817-42B6-4BCD-86B8-0233F97F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DF028-59EA-408E-BB9B-AA8A2B35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07022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6B2C13-58F8-4253-88A4-F39DA073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项目实施路线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C0756-52C5-4B60-BEC0-9D1D3E79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26AEC-4CD1-4F9E-A4B8-1DE8114A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先完成可运行流程，再扩大数据集、训练模型，最后根据错误案例迭代规则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DAF8C-3FCD-47DA-AFF1-26E7B2A4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763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C2762-D0ED-4B80-843C-645DF616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阶段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90F44-5536-43A6-855E-B787A3B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668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07FCE-9F43-44D9-A2DF-B150A2E7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66875"/>
            <a:ext cx="462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形成的文件/结果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FBBAD-962A-4C54-AB11-64261972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763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F96B2-6CAD-4CE8-AA9A-ADAD948C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1 初始流程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0272C-4247-4405-8B28-0E44EDA2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526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完成 HSV 定位、透视矫正、二值化和字符分割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751B4-E777-409E-91B5-108017FC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52675"/>
            <a:ext cx="462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license_plate_app.py 与每张图的中间输出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6B9E2-D62A-4ECC-AF07-89BE74B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763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B31DE-97F7-4424-A6EF-B066613B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2 数据扩充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2B2F4-1172-47C6-9418-4A1BB797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384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导入 CCPD2019，随机抽取 30000 张并解析文件名标签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0004D-0C77-4F93-9F5D-CAFE9959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38475"/>
            <a:ext cx="462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train_chars_ccpd_30k、ccpd_convert_report_30k.csv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45A91-5CDD-4323-9CD0-A5E62BA1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0763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39292-2CB4-4CBD-84F5-D8675676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3 样本校准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9C8EF-0D55-4B6A-BD33-B68668B8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242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加入项目测试图的人工标签与增强样本，补齐易混字符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2E0CA-C693-4EAB-A751-3350032D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24275"/>
            <a:ext cx="462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train_chars_final、train_chars_expanded_final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47FE6-5F1F-46B8-8A28-D2CCBBDB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763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7A3BA-99ED-4A90-9884-71336480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4 模型训练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B6650-6075-4F68-B62C-9F955AA8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100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按省份、字母、字母数字三类位置分别训练 SVM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BAA38-3C99-4159-A7E9-846464F5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10075"/>
            <a:ext cx="462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plate_province_svm.xml、plate_letter_svm.xml、plate_alphanum_svm.xml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2A052C-CB35-4DAD-8826-D1C9052A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7632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26D82-40B8-4426-80E1-A2C1798D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5 验证交付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254206-EBCA-4B8C-A2DE-F6F8E215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958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运行全量测试图片，保存定位、二值化、分割与识别文本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9A8E97-2E8C-4D11-A091-B51A628D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95875"/>
            <a:ext cx="462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output_delivery_check、汇报 PPT、最终提交文件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D85B6F-4CB7-42AF-B92F-C0DF6C23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6A693E-3FEE-4079-BF26-7F241F75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F91F20-CC98-4271-8CAC-0F0E5A92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3683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0B97E4-5DF0-45BC-844A-C81A97CE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系统总体框架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33FDB-9027-494E-8909-5F578247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6AB49-D192-4C33-9525-41C8A955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代码运行时会保存关键中间结果，便于检查定位、分割和识别是否合理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5F310-3B92-4CDD-9B01-812291D2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7145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CD19C-A783-4BA1-A15F-F2F7DDD6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37149-7C87-4908-8174-5E662F95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原图输入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936C2-EAC0-4CAE-B416-BA3BF4D5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test_images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5BD3F-96CA-41DF-A1EA-52CA7F4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305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FCF92-A1D2-4C5E-808D-86A3C242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85950"/>
            <a:ext cx="17145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E910A-A7B3-4414-85A1-E95B8372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E4F7B-4689-4592-9E78-EBE9BCB0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19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车牌定位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3EE5E-5E12-48D8-8966-03DF2CBB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81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candidate + plate.png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56A79-F71D-4C33-B690-4DB4C1FA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05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68A81-20E7-4BFA-A53A-E537F8AC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85950"/>
            <a:ext cx="17145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C275F-CA9E-4E88-8742-88BC8BEA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76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EBC8A-5536-4771-AB48-5D663D83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19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字符处理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745F2-4DD3-4FA6-A831-CB74EF3A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81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binary + segmentation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38CBF-D989-4BD0-9C4F-BECA6DEA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05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EC70C1-200A-4164-8B54-B8DEB478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85950"/>
            <a:ext cx="17145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D18FD-39EE-446B-A8DB-06FEA166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76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FCF4A-6F96-472C-9173-5BF314E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19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模型识别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CFDF2-A6A8-49BD-B087-14E68A46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HOG + SVM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21804E-B27B-4DE0-995B-55B410B5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05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F7EF1-94E0-4E2B-B66B-B80F8A5C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85950"/>
            <a:ext cx="17145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FE29F-926D-47E8-BE8A-6621AF9E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76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C0A85C-EE4E-4CBA-A005-5F2B5CE8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19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结果输出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9CA59F-97BC-486E-A8A5-C9E37389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result.txt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885D4F-C51A-4338-8C59-BB6A73F1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F8878E-8B32-4306-AA5D-0F76AC9C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可追踪性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84340-A861-4307-9CFA-5851441E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每张测试图单独生成一个结果文件夹，包含 plate.png、binary.png、segmentation.png、char_01.png 到 char_07.png 和 result.txt。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2AAFD1-9A60-4521-9FF5-3C756772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4B9E8F-4C28-4764-B201-1D067910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可迭代性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0685A3-DBF1-4F70-9F56-4B36B906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一旦某个样本识别错误，可以直接查看是哪一步出问题，再调整定位筛选、分割规则或训练样本。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183BA6-910B-44F6-AA52-61236B00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185B9C-9845-4B1B-AE28-7C726E07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4A6954-E751-473A-9172-82A3E4FB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73958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5701A2-6111-469C-ABC2-781DE4A2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CCPD2019 数据集与标注解析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01F25-2486-414A-80D6-48E8EB11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03996-6FA4-4CF3-8A9E-0AE31EED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CCPD 的文件名本身包含车牌号、车牌四角坐标等训练所需信息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1F240-140E-4719-8A39-3FFF284D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1038225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4B6D5-5657-4ADE-98D2-557CB3E9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文件名字段示例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DCE71-45EF-4E0A-A95A-9AF63F53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面积-倾斜角-左上&amp;右下-四角坐标-车牌编码-亮度-模糊度.jpg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0021F-BB59-436A-B691-6068B941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0001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A0779-C0E5-4303-A049-7D33E19D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71825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解析字段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CD773-9242-4CF7-9D2C-B576E726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71825"/>
            <a:ext cx="758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在项目中的用途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FA7BE-9DD4-484C-8CF6-2EED19E3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10001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2EFA8-10F1-4B7B-86B2-F3CF8D87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62375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车牌编码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A9C9D-2B15-4B3E-849B-1893AE5D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62375"/>
            <a:ext cx="758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转换为“省份汉字 + 字母 + 后五位字母数字”，作为字符类别标签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2049B-A5BD-4AC1-AADB-4A5C67B0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10001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40C9D-0D23-49BB-BB08-E971C11D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四角坐标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3652A-8FC5-4C48-B6DB-52B2C1F6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52925"/>
            <a:ext cx="758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从原图裁剪并矫正车牌区域，生成单字符训练图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3EAE2-B667-4466-AE56-C13864CA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0001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6C6F2-E1DB-4922-B5D3-74A1259C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43475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倾斜/模糊信息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792EC-BEDC-4892-AB6C-14A5D346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43475"/>
            <a:ext cx="758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用于理解样本难度，后续保留难例进行泛化验证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E7249D-C469-4AB7-AF33-504DF9BF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10001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5D8DA-18DA-4393-96F0-2C302091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34025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随机抽样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68E04-7E7B-44EA-9387-B96B36B3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34025"/>
            <a:ext cx="758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避免顺序读取导致训练样本过于集中在“皖”牌照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BC585-E55A-4920-8071-F9B114C5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45266-9B3F-41FF-9376-73475B2F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36915-E743-4882-819A-186F45EE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021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BBC652-0454-448F-984E-F1164D40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训练集构建与扩大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1F204-CC00-4303-B36D-4B852795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B15D8-8890-47DB-8E8B-F53B4912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从原始车辆图片转成按字符类别组织的训练样本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8FB0C-1516-4EDE-B9DB-686D23C5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30,000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45CB9-BA08-4CED-87E7-B196E36C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CCPD 随机抽取图像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2F7A0-C38E-440E-BF0D-60BBBA2A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F766E"/>
                </a:solidFill>
              </a:defRPr>
            </a:pPr>
            <a:r>
              <a:rPr sz="2850" b="1">
                <a:solidFill>
                  <a:srgbClr val="0F766E"/>
                </a:solidFill>
              </a:rPr>
              <a:t>38,558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B0645-726D-438E-9420-41B1A667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最终演示训练字符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53620-6258-4733-B244-1510791A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45309"/>
                </a:solidFill>
              </a:defRPr>
            </a:pPr>
            <a:r>
              <a:rPr sz="2850" b="1">
                <a:solidFill>
                  <a:srgbClr val="B45309"/>
                </a:solidFill>
              </a:rPr>
              <a:t>82,550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44EFB-098A-4EF7-BA70-80720980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扩展实验字符样本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CBEC5-9AB0-422D-8452-DD269CE5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5803D"/>
                </a:solidFill>
              </a:defRPr>
            </a:pPr>
            <a:r>
              <a:rPr sz="2850" b="1">
                <a:solidFill>
                  <a:srgbClr val="15803D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2D5E7-4F8B-459F-AC42-A1077A9B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14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位置专用分类器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15666-F1D8-47B5-987A-0960E510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7C1B4-136A-471B-8F4E-C73F9A60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48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目录/文件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3A7B0-3D35-4D5E-ADEA-6DA2C805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48025"/>
            <a:ext cx="710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作用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48C37-A5A6-416A-B9B9-BEFDC217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D6CA1-0A46-44AB-876D-0559D584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train_chars_ccpd_30k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8F401-5370-4935-B24A-3860B2DB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9525"/>
            <a:ext cx="710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由 CCPD 随机样本转出的字符训练集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9ED8F-BE4E-403F-808C-6F626109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E2DF9-9F6D-4D2A-A554-D37BC067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91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train_chars_final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EF035-75BD-4DB5-9814-0253E3DC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91025"/>
            <a:ext cx="710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最终演示默认模型使用的校准训练集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31751-FE43-43BA-9D45-E52584EA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89F23-4CF0-4B01-A385-CF7DD91D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train_chars_expanded_final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415F2-5E48-49A1-8113-D661D395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62525"/>
            <a:ext cx="710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保留的扩大训练实验集，用于更多样本训练尝试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4CBC6F-5CFD-4488-8581-EBE95E25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F15357-16F9-417A-A54B-974889E6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34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models/plate_position_models.json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4903C5-E8DC-455A-9797-C309AF18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34025"/>
            <a:ext cx="710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记录三个位置模型与标签映射，主程序默认读取它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FD4E2-F3CF-421A-A2F9-4BF3AF8A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959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关键修正：训练集从“顺序抽取”改为“随机抽取”，避免前一批样本省份过于单一。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AC42BC-85FD-4844-BBB2-CE82C0D9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A3028D-CF5A-4F83-B75F-D1E02BBF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A14528-FC26-41B5-A977-F0F4FB71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80302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A13EF-A6BD-4867-9181-6A5757D6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训练样本具体形态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67009-EC8A-455A-8F06-4E971E86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C58AF-FD75-4675-B85E-D52F922D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训练数据不是整张车图，而是矫正并切分后的单字符图像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213DE-4AF2-4A5F-8810-08700E81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58c6743fb43fd"/>
          <a:stretch xmlns:a="http://schemas.openxmlformats.org/drawingml/2006/main"/>
        </p:blipFill>
        <p:spPr>
          <a:xfrm xmlns:a="http://schemas.openxmlformats.org/drawingml/2006/main">
            <a:off x="1695450" y="18097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9669b23cb4b9a"/>
          <a:stretch xmlns:a="http://schemas.openxmlformats.org/drawingml/2006/main"/>
        </p:blipFill>
        <p:spPr>
          <a:xfrm xmlns:a="http://schemas.openxmlformats.org/drawingml/2006/main">
            <a:off x="2114550" y="18097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12ff630b44c0b"/>
          <a:stretch xmlns:a="http://schemas.openxmlformats.org/drawingml/2006/main"/>
        </p:blipFill>
        <p:spPr>
          <a:xfrm xmlns:a="http://schemas.openxmlformats.org/drawingml/2006/main">
            <a:off x="2533650" y="18097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142341b9d4899"/>
          <a:stretch xmlns:a="http://schemas.openxmlformats.org/drawingml/2006/main"/>
        </p:blipFill>
        <p:spPr>
          <a:xfrm xmlns:a="http://schemas.openxmlformats.org/drawingml/2006/main">
            <a:off x="2952750" y="18097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a3d96fa1548aa"/>
          <a:stretch xmlns:a="http://schemas.openxmlformats.org/drawingml/2006/main"/>
        </p:blipFill>
        <p:spPr>
          <a:xfrm xmlns:a="http://schemas.openxmlformats.org/drawingml/2006/main">
            <a:off x="3371850" y="18097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3b14584104d89"/>
          <a:stretch xmlns:a="http://schemas.openxmlformats.org/drawingml/2006/main"/>
        </p:blipFill>
        <p:spPr>
          <a:xfrm xmlns:a="http://schemas.openxmlformats.org/drawingml/2006/main">
            <a:off x="3790950" y="18097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52E0E-E2A8-43FC-B8C5-C0BFEEE6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B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8cc8290054f15"/>
          <a:stretch xmlns:a="http://schemas.openxmlformats.org/drawingml/2006/main"/>
        </p:blipFill>
        <p:spPr>
          <a:xfrm xmlns:a="http://schemas.openxmlformats.org/drawingml/2006/main">
            <a:off x="1695450" y="274320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b61766d444805"/>
          <a:stretch xmlns:a="http://schemas.openxmlformats.org/drawingml/2006/main"/>
        </p:blipFill>
        <p:spPr>
          <a:xfrm xmlns:a="http://schemas.openxmlformats.org/drawingml/2006/main">
            <a:off x="2114550" y="274320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72b9858784e1f"/>
          <a:stretch xmlns:a="http://schemas.openxmlformats.org/drawingml/2006/main"/>
        </p:blipFill>
        <p:spPr>
          <a:xfrm xmlns:a="http://schemas.openxmlformats.org/drawingml/2006/main">
            <a:off x="2533650" y="274320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f5ee03fad4c82"/>
          <a:stretch xmlns:a="http://schemas.openxmlformats.org/drawingml/2006/main"/>
        </p:blipFill>
        <p:spPr>
          <a:xfrm xmlns:a="http://schemas.openxmlformats.org/drawingml/2006/main">
            <a:off x="2952750" y="274320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facfc6d6040e4"/>
          <a:stretch xmlns:a="http://schemas.openxmlformats.org/drawingml/2006/main"/>
        </p:blipFill>
        <p:spPr>
          <a:xfrm xmlns:a="http://schemas.openxmlformats.org/drawingml/2006/main">
            <a:off x="3371850" y="274320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0bd73ec96435a"/>
          <a:stretch xmlns:a="http://schemas.openxmlformats.org/drawingml/2006/main"/>
        </p:blipFill>
        <p:spPr>
          <a:xfrm xmlns:a="http://schemas.openxmlformats.org/drawingml/2006/main">
            <a:off x="3790950" y="274320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AE428-BC3A-46C2-AF9C-AB98B8FA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1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79e7663694aab"/>
          <a:stretch xmlns:a="http://schemas.openxmlformats.org/drawingml/2006/main"/>
        </p:blipFill>
        <p:spPr>
          <a:xfrm xmlns:a="http://schemas.openxmlformats.org/drawingml/2006/main">
            <a:off x="1695450" y="36766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5a12b44af4d0e"/>
          <a:stretch xmlns:a="http://schemas.openxmlformats.org/drawingml/2006/main"/>
        </p:blipFill>
        <p:spPr>
          <a:xfrm xmlns:a="http://schemas.openxmlformats.org/drawingml/2006/main">
            <a:off x="2114550" y="36766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78debd53e4f1f"/>
          <a:stretch xmlns:a="http://schemas.openxmlformats.org/drawingml/2006/main"/>
        </p:blipFill>
        <p:spPr>
          <a:xfrm xmlns:a="http://schemas.openxmlformats.org/drawingml/2006/main">
            <a:off x="2533650" y="36766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698c4d21c4e20"/>
          <a:stretch xmlns:a="http://schemas.openxmlformats.org/drawingml/2006/main"/>
        </p:blipFill>
        <p:spPr>
          <a:xfrm xmlns:a="http://schemas.openxmlformats.org/drawingml/2006/main">
            <a:off x="2952750" y="36766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82e11c0a44b0c"/>
          <a:stretch xmlns:a="http://schemas.openxmlformats.org/drawingml/2006/main"/>
        </p:blipFill>
        <p:spPr>
          <a:xfrm xmlns:a="http://schemas.openxmlformats.org/drawingml/2006/main">
            <a:off x="3371850" y="36766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4733e07544d44"/>
          <a:stretch xmlns:a="http://schemas.openxmlformats.org/drawingml/2006/main"/>
        </p:blipFill>
        <p:spPr>
          <a:xfrm xmlns:a="http://schemas.openxmlformats.org/drawingml/2006/main">
            <a:off x="3790950" y="36766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7DBDBE-BFCD-4906-B004-115A01A3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621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8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885d274604744"/>
          <a:stretch xmlns:a="http://schemas.openxmlformats.org/drawingml/2006/main"/>
        </p:blipFill>
        <p:spPr>
          <a:xfrm xmlns:a="http://schemas.openxmlformats.org/drawingml/2006/main">
            <a:off x="6362700" y="18097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2fbdc970e4295"/>
          <a:stretch xmlns:a="http://schemas.openxmlformats.org/drawingml/2006/main"/>
        </p:blipFill>
        <p:spPr>
          <a:xfrm xmlns:a="http://schemas.openxmlformats.org/drawingml/2006/main">
            <a:off x="6781800" y="18097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a86a3427f45bc"/>
          <a:stretch xmlns:a="http://schemas.openxmlformats.org/drawingml/2006/main"/>
        </p:blipFill>
        <p:spPr>
          <a:xfrm xmlns:a="http://schemas.openxmlformats.org/drawingml/2006/main">
            <a:off x="7200900" y="18097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cd060fa7b4a48"/>
          <a:stretch xmlns:a="http://schemas.openxmlformats.org/drawingml/2006/main"/>
        </p:blipFill>
        <p:spPr>
          <a:xfrm xmlns:a="http://schemas.openxmlformats.org/drawingml/2006/main">
            <a:off x="7620000" y="18097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6551f31b049d0"/>
          <a:stretch xmlns:a="http://schemas.openxmlformats.org/drawingml/2006/main"/>
        </p:blipFill>
        <p:spPr>
          <a:xfrm xmlns:a="http://schemas.openxmlformats.org/drawingml/2006/main">
            <a:off x="8039100" y="18097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6e315445d4807"/>
          <a:stretch xmlns:a="http://schemas.openxmlformats.org/drawingml/2006/main"/>
        </p:blipFill>
        <p:spPr>
          <a:xfrm xmlns:a="http://schemas.openxmlformats.org/drawingml/2006/main">
            <a:off x="8458200" y="18097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EE0BA5-E433-44BC-B525-F9379A06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956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9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2e0236e8b475e"/>
          <a:stretch xmlns:a="http://schemas.openxmlformats.org/drawingml/2006/main"/>
        </p:blipFill>
        <p:spPr>
          <a:xfrm xmlns:a="http://schemas.openxmlformats.org/drawingml/2006/main">
            <a:off x="6362700" y="274320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235ab25774291"/>
          <a:stretch xmlns:a="http://schemas.openxmlformats.org/drawingml/2006/main"/>
        </p:blipFill>
        <p:spPr>
          <a:xfrm xmlns:a="http://schemas.openxmlformats.org/drawingml/2006/main">
            <a:off x="6781800" y="274320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9cbca71c74aba"/>
          <a:stretch xmlns:a="http://schemas.openxmlformats.org/drawingml/2006/main"/>
        </p:blipFill>
        <p:spPr>
          <a:xfrm xmlns:a="http://schemas.openxmlformats.org/drawingml/2006/main">
            <a:off x="7200900" y="274320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b2625a13c4c91"/>
          <a:stretch xmlns:a="http://schemas.openxmlformats.org/drawingml/2006/main"/>
        </p:blipFill>
        <p:spPr>
          <a:xfrm xmlns:a="http://schemas.openxmlformats.org/drawingml/2006/main">
            <a:off x="7620000" y="274320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02453aad941b1"/>
          <a:stretch xmlns:a="http://schemas.openxmlformats.org/drawingml/2006/main"/>
        </p:blipFill>
        <p:spPr>
          <a:xfrm xmlns:a="http://schemas.openxmlformats.org/drawingml/2006/main">
            <a:off x="8039100" y="274320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27776e5f44a40"/>
          <a:stretch xmlns:a="http://schemas.openxmlformats.org/drawingml/2006/main"/>
        </p:blipFill>
        <p:spPr>
          <a:xfrm xmlns:a="http://schemas.openxmlformats.org/drawingml/2006/main">
            <a:off x="8458200" y="274320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183D34-7258-4430-B897-B42B02D5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29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A+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a57357c00457a"/>
          <a:stretch xmlns:a="http://schemas.openxmlformats.org/drawingml/2006/main"/>
        </p:blipFill>
        <p:spPr>
          <a:xfrm xmlns:a="http://schemas.openxmlformats.org/drawingml/2006/main">
            <a:off x="6362700" y="36766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f049ca9814947"/>
          <a:stretch xmlns:a="http://schemas.openxmlformats.org/drawingml/2006/main"/>
        </p:blipFill>
        <p:spPr>
          <a:xfrm xmlns:a="http://schemas.openxmlformats.org/drawingml/2006/main">
            <a:off x="6781800" y="36766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5bc87128042e9"/>
          <a:stretch xmlns:a="http://schemas.openxmlformats.org/drawingml/2006/main"/>
        </p:blipFill>
        <p:spPr>
          <a:xfrm xmlns:a="http://schemas.openxmlformats.org/drawingml/2006/main">
            <a:off x="7200900" y="36766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15f234ad44b50"/>
          <a:stretch xmlns:a="http://schemas.openxmlformats.org/drawingml/2006/main"/>
        </p:blipFill>
        <p:spPr>
          <a:xfrm xmlns:a="http://schemas.openxmlformats.org/drawingml/2006/main">
            <a:off x="7620000" y="36766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e571b3157400e"/>
          <a:stretch xmlns:a="http://schemas.openxmlformats.org/drawingml/2006/main"/>
        </p:blipFill>
        <p:spPr>
          <a:xfrm xmlns:a="http://schemas.openxmlformats.org/drawingml/2006/main">
            <a:off x="8039100" y="36766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adb8b36c44624"/>
          <a:stretch xmlns:a="http://schemas.openxmlformats.org/drawingml/2006/main"/>
        </p:blipFill>
        <p:spPr>
          <a:xfrm xmlns:a="http://schemas.openxmlformats.org/drawingml/2006/main">
            <a:off x="8458200" y="3676650"/>
            <a:ext cx="285750" cy="571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DF615C-DF51-453B-A4B5-D7623AF8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FC7EFC-F44F-4791-A38D-D41CF56C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为什么要按字符训练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B21DB2-7EB3-414F-8795-1497A882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车牌识别最终要判断七个位置上的字符类别，因此训练集按单字符类别组织，比直接识别整张车图更适合传统机器学习方法。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28FF7E-036A-4FD7-81BC-37C26E5D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48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97B4B1-BFC7-41F2-BA8B-FC010503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720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为什么要保留项目样本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2EBA3D-727D-4B22-A7DC-97AABCE9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959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CCPD 与本项目测试图片在拍摄角度、清晰度、颜色上不完全一致，加入项目样本可以校正实际测试场景。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244B63-C648-431D-A6EB-50997959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7AC94C-FA47-4DDE-B66E-7B03E41D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530046-4E19-4FBC-AA33-5F86F453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0602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D081B6-AE0E-4365-8F3A-6C7E8CAB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图像处理一：颜色空间定位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2EF0F-51F0-436D-BCB3-B47A4391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80BE7-6F30-414E-8E45-54D0B888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以 2.jpg 为例，先把可能的蓝色车牌区域从复杂背景中分离出来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ac4a255ff4d0f"/>
          <a:srcRect xmlns:a="http://schemas.openxmlformats.org/drawingml/2006/main" l="11142" t="0" r="111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695450"/>
            <a:ext cx="3714750" cy="2552700"/>
          </a:xfrm>
          <a:prstGeom xmlns:a="http://schemas.openxmlformats.org/drawingml/2006/main" prst="roundRect">
            <a:avLst>
              <a:gd name="adj" fmla="val 746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59d58d6194e94"/>
          <a:stretch xmlns:a="http://schemas.openxmlformats.org/drawingml/2006/main"/>
        </p:blipFill>
        <p:spPr>
          <a:xfrm xmlns:a="http://schemas.openxmlformats.org/drawingml/2006/main">
            <a:off x="4857750" y="2208776"/>
            <a:ext cx="2857500" cy="1526048"/>
          </a:xfrm>
          <a:prstGeom xmlns:a="http://schemas.openxmlformats.org/drawingml/2006/main" prst="roundRect">
            <a:avLst>
              <a:gd name="adj" fmla="val 74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FDC33-62CD-40A1-988C-60A16670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57350"/>
            <a:ext cx="3143250" cy="264795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9BFC8-07EF-4C14-A37E-DC36FECD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907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3C5FD"/>
                </a:solidFill>
              </a:defRPr>
            </a:pPr>
            <a:r>
              <a:rPr sz="1200" b="1">
                <a:solidFill>
                  <a:srgbClr val="93C5FD"/>
                </a:solidFill>
              </a:rPr>
              <a:t>关键代码：HSV 蓝色掩膜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7710B-49A5-4D15-83D3-951B7E57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28003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hsv = cv2.cvtColor(image,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cv2.COLOR_BGR2HSV)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lower = np.array([100,90,45])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upper = np.array([132,255,255])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mask = cv2.inRange(hsv,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lower, upper)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863D0-04F2-4344-9E8B-42D810EA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原始图像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C1D66-7127-45BF-8589-9B77723E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HSV 蓝色掩膜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885FD-0988-484D-B28C-D75DA653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95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C3634-6656-401D-B95E-0B945AEA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效果与代码对应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D13AC-6BBC-465E-8C63-50F543C9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435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右侧代码把图像从 BGR 转到 HSV，再用蓝色阈值生成掩膜；中间白色区域就是被保留下来的疑似车牌区域。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8AF0A-B80D-4FDF-98EF-2061A3BD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A1669-F313-4C9D-AC5A-AE84BA4E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24950-8D89-4093-9A0F-D0BB2186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05708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E9968F-534D-4FFF-997D-AF74C25E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图像处理二：形态学与候选框筛选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568D4-58BA-4DDD-A02E-E99FAD70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58CD1-5A7D-4DEE-A755-1B37628D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将零散蓝色区域连接起来，再按几何特征筛出最像车牌的候选框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a2ddb81a84891"/>
          <a:stretch xmlns:a="http://schemas.openxmlformats.org/drawingml/2006/main"/>
        </p:blipFill>
        <p:spPr>
          <a:xfrm xmlns:a="http://schemas.openxmlformats.org/drawingml/2006/main">
            <a:off x="781050" y="1953444"/>
            <a:ext cx="3028950" cy="1617611"/>
          </a:xfrm>
          <a:prstGeom xmlns:a="http://schemas.openxmlformats.org/drawingml/2006/main" prst="roundRect">
            <a:avLst>
              <a:gd name="adj" fmla="val 862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3db8752e44ec8"/>
          <a:srcRect xmlns:a="http://schemas.openxmlformats.org/drawingml/2006/main" l="13399" t="0" r="133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71950" y="1657350"/>
            <a:ext cx="3028950" cy="2209800"/>
          </a:xfrm>
          <a:prstGeom xmlns:a="http://schemas.openxmlformats.org/drawingml/2006/main" prst="roundRect">
            <a:avLst>
              <a:gd name="adj" fmla="val 86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83731-4DF2-45AB-8761-6C49B029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19250"/>
            <a:ext cx="3562350" cy="2286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E70FF-5A88-4F3C-AA88-39B87D1A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3C5FD"/>
                </a:solidFill>
              </a:defRPr>
            </a:pPr>
            <a:r>
              <a:rPr sz="1200" b="1">
                <a:solidFill>
                  <a:srgbClr val="93C5FD"/>
                </a:solidFill>
              </a:rPr>
              <a:t>关键代码：轮廓筛选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1AB7B-7B21-413D-84DF-7D887C45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32194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contours, _ = cv2.findContours(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mask, cv2.RETR_EXTERNAL,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cv2.CHAIN_APPROX_SIMPLE)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ratio = long_side / short_side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if not (1.5 &lt;= ratio &lt;= 5.8):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continue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9C740-3198-4EDB-A46E-5C4D30F7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形态学闭运算：连接断裂区域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3E6C1-C547-414E-91CD-485C6465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5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候选框：按长宽比、面积、位置和字符亮度打分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DEED2-F715-4747-A0C0-B109926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62500"/>
            <a:ext cx="9715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0EB2A-CE6D-4C10-A93D-3B2DCB2C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86325"/>
            <a:ext cx="2247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筛选依据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E825A-38F5-43C4-9493-28502158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86325"/>
            <a:ext cx="701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目的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A08A2-B33E-4450-89C8-97F4F709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24450"/>
            <a:ext cx="9715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61671-9F91-442D-B495-8C3CA59F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48275"/>
            <a:ext cx="2247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长宽比与面积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0E6CF-75ED-406B-90C4-031EE7BF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48275"/>
            <a:ext cx="701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排除过窄、过宽或过小的蓝色干扰块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57A82-1B32-44F5-BEC5-D9FC1AF5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9715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06C32-58BE-4243-A899-B1680613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0225"/>
            <a:ext cx="2247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位置约束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EE1A7-FF1C-4B7C-AECE-467AE593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10225"/>
            <a:ext cx="701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降低车窗反光、天空、广告牌等误检概率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3BB74-B09D-4C95-A18D-2948ABA1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9715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7676A-48B0-4F6E-857C-418D4D12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72175"/>
            <a:ext cx="2247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蓝色比例 + 白色字符比例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173D9-C134-4FCD-AB78-C5285765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72175"/>
            <a:ext cx="701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让候选区域同时像“蓝底”和“白字”车牌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34732-CC98-4294-AC31-6DABDF2E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CB627-D7CC-4CF8-90C7-33AF070D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19D502-7864-459A-A26C-3066A0A7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0926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165245-1553-4CFB-8214-0D6886CD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图像处理三：透视矫正、灰度化与二值化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2B489-333D-4752-85D0-DFB1CC22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80D59-75F8-40F0-ACC4-9A3F13F8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把倾斜车牌变成统一尺寸的正视图，为字符分割做准备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8c4c3322c4a53"/>
          <a:stretch xmlns:a="http://schemas.openxmlformats.org/drawingml/2006/main"/>
        </p:blipFill>
        <p:spPr>
          <a:xfrm xmlns:a="http://schemas.openxmlformats.org/drawingml/2006/main">
            <a:off x="895350" y="1839465"/>
            <a:ext cx="2047875" cy="778769"/>
          </a:xfrm>
          <a:prstGeom xmlns:a="http://schemas.openxmlformats.org/drawingml/2006/main" prst="roundRect">
            <a:avLst>
              <a:gd name="adj" fmla="val 192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A3447-4C95-4CDD-875F-7CB4B77E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透视矫正车牌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D9C63-B590-4F47-B56F-E364DDC5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4A3B8"/>
                </a:solidFill>
              </a:defRPr>
            </a:pPr>
            <a:r>
              <a:rPr sz="1650" b="1">
                <a:solidFill>
                  <a:srgbClr val="94A3B8"/>
                </a:solidFill>
              </a:rPr>
              <a:t>-&gt;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18b50a28c497f"/>
          <a:stretch xmlns:a="http://schemas.openxmlformats.org/drawingml/2006/main"/>
        </p:blipFill>
        <p:spPr>
          <a:xfrm xmlns:a="http://schemas.openxmlformats.org/drawingml/2006/main">
            <a:off x="3486150" y="1839465"/>
            <a:ext cx="2047875" cy="778769"/>
          </a:xfrm>
          <a:prstGeom xmlns:a="http://schemas.openxmlformats.org/drawingml/2006/main" prst="roundRect">
            <a:avLst>
              <a:gd name="adj" fmla="val 192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662E8-B2A3-4149-83F7-E7EB3B76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灰度图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ECADA-C9A8-4AB2-9FB2-B44806FA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955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4A3B8"/>
                </a:solidFill>
              </a:defRPr>
            </a:pPr>
            <a:r>
              <a:rPr sz="1650" b="1">
                <a:solidFill>
                  <a:srgbClr val="94A3B8"/>
                </a:solidFill>
              </a:rPr>
              <a:t>-&gt;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9a6cecc8a4964"/>
          <a:stretch xmlns:a="http://schemas.openxmlformats.org/drawingml/2006/main"/>
        </p:blipFill>
        <p:spPr>
          <a:xfrm xmlns:a="http://schemas.openxmlformats.org/drawingml/2006/main">
            <a:off x="6076950" y="1917217"/>
            <a:ext cx="2047875" cy="623266"/>
          </a:xfrm>
          <a:prstGeom xmlns:a="http://schemas.openxmlformats.org/drawingml/2006/main" prst="roundRect">
            <a:avLst>
              <a:gd name="adj" fmla="val 192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D52F4-CF14-4DC7-91F3-0A92DDE7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146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二值化净化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7A780-AB88-499C-A3A2-8D46021F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3048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695F3-5923-4A46-9F1A-9556F037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716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3C5FD"/>
                </a:solidFill>
              </a:defRPr>
            </a:pPr>
            <a:r>
              <a:rPr sz="1200" b="1">
                <a:solidFill>
                  <a:srgbClr val="93C5FD"/>
                </a:solidFill>
              </a:rPr>
              <a:t>关键代码：矫正与二值化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C4B52-3C0F-460D-9BC2-37709D4F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7051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M = cv2.getPerspectiveTransform(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src, dst)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plate = cv2.warpPerspective(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image, M, size)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gray = cv2.cvtColor(plate,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cv2.COLOR_BGR2GRAY)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_, binary = cv2.threshold(gray,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0,255,cv2.THRESH_OTSU)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2B6C2-B568-43A7-B8C8-D1C8CD08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6858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97832-0BFE-45DB-9769-E9D9D547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957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步骤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96343-1EF5-451E-A225-642D4DE8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957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具体作用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47484-B047-4BEC-99A2-7BF2F76D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6858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3FB00-F1BE-4766-B7E6-A6685DD4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529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透视矫正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B86F7-7ED6-4940-B6B6-F2F5C40E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529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根据候选区域四点变换，减少拍摄角度导致的字符倾斜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7C3126-1C57-4C2B-ADA8-0FD134A6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6858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487EF-2ACE-43BB-9A00-14950FEA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01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灰度化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8AE0B8-C785-4230-B01B-5043871D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01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去除颜色信息，只保留字符与背景亮度差异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33EE3-8A45-4CB9-80D6-EDD51739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6858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FC1264-A0C3-4E26-8AC6-12AA91DC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二值化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33199F-7FEE-41F9-B8CD-DCB786D8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673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把字符区域变成黑白图，便于垂直投影和连通域分析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4A001-B105-42EC-A568-68C422ED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1004C-69F8-4AE2-946B-D359DCD7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763449-44A1-4C63-BAF0-0BC83BEA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11506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3D9C53-DDFD-45C3-B557-AFF76D41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图像处理四：字符分割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6E952-E98C-4916-81D1-11AF7D50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69B82-24F1-4F2D-B7A2-0B92EF8F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分割阶段决定了模型输入是否正确，是本项目迭代最多的部分之一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48d3e004a4d7b"/>
          <a:stretch xmlns:a="http://schemas.openxmlformats.org/drawingml/2006/main"/>
        </p:blipFill>
        <p:spPr>
          <a:xfrm xmlns:a="http://schemas.openxmlformats.org/drawingml/2006/main">
            <a:off x="857250" y="1631467"/>
            <a:ext cx="4238625" cy="1290016"/>
          </a:xfrm>
          <a:prstGeom xmlns:a="http://schemas.openxmlformats.org/drawingml/2006/main" prst="roundRect">
            <a:avLst>
              <a:gd name="adj" fmla="val 1370"/>
            </a:avLst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c6c34f72d4d6f"/>
          <a:stretch xmlns:a="http://schemas.openxmlformats.org/drawingml/2006/main"/>
        </p:blipFill>
        <p:spPr>
          <a:xfrm xmlns:a="http://schemas.openxmlformats.org/drawingml/2006/main">
            <a:off x="6048375" y="1466850"/>
            <a:ext cx="361950" cy="7239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dd07e0eb74099"/>
          <a:stretch xmlns:a="http://schemas.openxmlformats.org/drawingml/2006/main"/>
        </p:blipFill>
        <p:spPr>
          <a:xfrm xmlns:a="http://schemas.openxmlformats.org/drawingml/2006/main">
            <a:off x="6524625" y="1466850"/>
            <a:ext cx="361950" cy="7239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8e840c0b546a5"/>
          <a:stretch xmlns:a="http://schemas.openxmlformats.org/drawingml/2006/main"/>
        </p:blipFill>
        <p:spPr>
          <a:xfrm xmlns:a="http://schemas.openxmlformats.org/drawingml/2006/main">
            <a:off x="7000875" y="1466850"/>
            <a:ext cx="361950" cy="7239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10fe6dc1c4692"/>
          <a:stretch xmlns:a="http://schemas.openxmlformats.org/drawingml/2006/main"/>
        </p:blipFill>
        <p:spPr>
          <a:xfrm xmlns:a="http://schemas.openxmlformats.org/drawingml/2006/main">
            <a:off x="7477125" y="1466850"/>
            <a:ext cx="361950" cy="7239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807f04d8a4f30"/>
          <a:stretch xmlns:a="http://schemas.openxmlformats.org/drawingml/2006/main"/>
        </p:blipFill>
        <p:spPr>
          <a:xfrm xmlns:a="http://schemas.openxmlformats.org/drawingml/2006/main">
            <a:off x="7953375" y="1466850"/>
            <a:ext cx="361950" cy="7239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8617f4ee94051"/>
          <a:stretch xmlns:a="http://schemas.openxmlformats.org/drawingml/2006/main"/>
        </p:blipFill>
        <p:spPr>
          <a:xfrm xmlns:a="http://schemas.openxmlformats.org/drawingml/2006/main">
            <a:off x="8429625" y="1466850"/>
            <a:ext cx="361950" cy="7239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97082c26c4679"/>
          <a:stretch xmlns:a="http://schemas.openxmlformats.org/drawingml/2006/main"/>
        </p:blipFill>
        <p:spPr>
          <a:xfrm xmlns:a="http://schemas.openxmlformats.org/drawingml/2006/main">
            <a:off x="8905875" y="1466850"/>
            <a:ext cx="361950" cy="7239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2D38F-266B-4C61-9F6E-269FE6F9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分割框输出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5B1B0-FB04-4C8C-868D-3ABA6669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七个单字符输入图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2D9CC-BF2B-4237-B22C-193B02BE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4248150" cy="215265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F1EEF-8BCB-44B4-A4DA-F786C70A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3C5FD"/>
                </a:solidFill>
              </a:defRPr>
            </a:pPr>
            <a:r>
              <a:rPr sz="1200" b="1">
                <a:solidFill>
                  <a:srgbClr val="93C5FD"/>
                </a:solidFill>
              </a:rPr>
              <a:t>关键代码：投影切分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DB1B3-BC30-4B3D-A22F-05CF6AA3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3905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proj = np.sum(bridged == 255, 0)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thr = max(mean*0.35, h*0.08)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for x, count in enumerate(proj):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if count &gt; thr: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    segments.append((start, x))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segments = merge_close_segments(...)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segments = split_wide_segments(...)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0110E-672A-4749-975A-DC5D6EEF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67150"/>
            <a:ext cx="5715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4B8D8-924E-4435-813C-F9E4A632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909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常见问题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77253-E150-4AED-8320-9F63B1F0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90975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修正方式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1F7EF-253E-493F-8656-D765D94E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67200"/>
            <a:ext cx="5715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E195F-8A28-415B-9ADC-F0E7C6BA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910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汉字被切碎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93A91-9B67-4DA9-A5FB-7FD79302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91025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合并开头位置的窄碎片，避免省份字符丢失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B746C2-885D-489B-AA41-81F5CCC0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67250"/>
            <a:ext cx="5715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C0D9FB-F100-4494-868E-E7C6FEE5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910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两个字符粘连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17F9DB-0A4B-4149-A494-68AE9194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91075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少于 7 段时拆分过宽字符块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184E5A-3BB5-4FD9-ADFD-9323F8AD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67300"/>
            <a:ext cx="5715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6E7AAC-B503-4B9D-AD93-99E50E6F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分隔点/螺丝被误切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A813CA-BA83-40F6-BC67-71D41073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91125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多于 7 段时丢弃低质量边缘段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B8FB5E-61E9-47FE-8EF3-C65F2A63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67350"/>
            <a:ext cx="5715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2C1D20-54AF-4B6D-B5C7-763BDA6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911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L 与 1 混淆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72784C-DB2A-44B2-8281-8799BF4B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91175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结合字符宽度、填充率和车牌位置做后处理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A4022D-0B7D-476D-A412-181338CC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B11D7C-2A60-4134-BD8D-98141CC4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3B8152-D67D-413A-9E42-14DB5AD1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557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478A04-D4E7-40A2-86E5-7BE20749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特征提取与模型训练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25B44-B8C6-45BC-A30B-BC75FCA8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6226F-5767-4D0F-909F-70803518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采用 HOG 特征描述字符形状，并按车牌位置训练三个专用 SVM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60163-6BCE-4552-9631-95F13B83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76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D156B-EE01-40AC-9E90-89A362A1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98B1F-CEC6-47A1-B12E-F683543A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859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识别位置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A2FC9-C4E4-4493-8580-E20E29A9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8592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类别范围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12BED-F87C-43D5-8919-A38ADB95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8592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原因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C274C-BA8A-43CF-8B9C-0354C53E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076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06B2D-7915-4FA6-B0C9-CA43AD10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省份 SVM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E18B0-7A44-4F94-BDED-08BA9C66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第 1 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B2545-BFB0-4C68-94D4-496B61A4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京、沪、浙、川等省份汉字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CE4F7-465A-474F-8FA0-033FDB65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3837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汉字形态与字母数字差异较大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639AC-D454-4087-B0E8-88014E46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076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D0F22-3650-452B-A8B2-5A465EBA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字母 SVM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BEA8D-BF89-4AB4-B73B-8C8ABA7E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90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第 2 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3DAFF-DF80-4833-B32B-848DE390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9082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A-Z 字母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43217-6B7C-4566-952A-940A7F04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9082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第二位通常为发牌机关字母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F28F1-0161-434D-B5D5-19B24C30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076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00479-3B56-46A7-8AE0-A840C88D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字母数字 SVM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62C50-B9D9-44A9-BAED-DB875F8E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4327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第 3-7 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06277-FD68-457C-A6B9-DB126365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432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A-Z 与 0-9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6F312-0686-4087-A03F-5D906951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4327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后五位可能同时出现字母和数字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D4E74-5A28-4A34-ACCB-CC79D125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5048250" cy="21145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A96FF-744F-46C7-9402-8543E958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3C5FD"/>
                </a:solidFill>
              </a:defRPr>
            </a:pPr>
            <a:r>
              <a:rPr sz="1200" b="1">
                <a:solidFill>
                  <a:srgbClr val="93C5FD"/>
                </a:solidFill>
              </a:rPr>
              <a:t>关键代码：HOG + 位置模型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B7D803-0121-4EBD-9C59-DDFA40AA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4705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feat = hog(ch).reshape(1, -1)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if position == 0: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group = 'province'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elif position == 1: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group = 'letter'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else: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    group = 'alphanum'</a:t>
            </a:r>
          </a:p>
          <a:p xmlns:a="http://schemas.openxmlformats.org/drawingml/2006/main">
            <a:pPr>
              <a:defRPr sz="1200">
                <a:solidFill>
                  <a:srgbClr val="E5E7EB"/>
                </a:solidFill>
              </a:defRPr>
            </a:pPr>
            <a:r>
              <a:rPr sz="1200">
                <a:solidFill>
                  <a:srgbClr val="E5E7EB"/>
                </a:solidFill>
              </a:rPr>
              <a:t>model.predict(feat)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B08CC-6172-4FF9-995F-72DFB0FE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F47F5-45E0-4A47-ADFD-FE37104B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模型调用方式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D91ED-6DC5-478A-A4B0-F9EC1F3C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29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第 1 位、第 2 位、后 5 位分别使用不同分类器，减少汉字、字母和数字之间的无效混淆。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A8F98C-6000-4FB8-AE68-FCC49C19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主程序默认读取 models/plate_position_models.json，从而同时获得模型路径和标签映射。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48582C-9C39-48FA-B69E-154A0808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A450BF-0FE8-49EC-A7D8-AA72EAC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AE1753-2152-4E65-8BEB-17BE004E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5270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44D47F-A366-4482-AC3A-A216CE08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关键问题与迭代修正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788AB-9367-4073-88C4-51C22DFB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469BC-2060-4B03-B876-C2F09915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每次失败都回到中间结果定位原因，再修改对应模块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2FA7F-402C-47ED-903C-9545191B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668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04963-E37D-43B8-9C97-9B3F60D8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9725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D52D4-FAD7-4CB5-9F8A-5F65A527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0972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表现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30358-12AF-46F6-9B38-905B4AF1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9725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改进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F3940-6379-4B43-86CC-78EAEC90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0668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020B3-0D99-4412-96C0-9664A603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训练集省份偏置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C32E9-E4AB-4CC6-9665-C4532F00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9552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顺序抽样时前期样本多为“皖”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929A0-7DFE-456C-BA26-7B141735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95525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改为随机抽样 CCPD 图像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979-652B-4EE8-A3F0-4674A7DB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668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D0123-8ACD-44CC-893F-B37B0C5C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反光区域误检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D7D72-AEBA-4CE5-96A5-D2572B8E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8132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车窗反光或蓝色区域被当作车牌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A93C4-289F-4AA2-83D5-C89BBDCA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81325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加入位置、长宽比和白字比例约束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5EB4A-2F4F-4EC4-AD6C-4975BE3C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0668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79CA7-1C22-431B-B7AB-5ED7DF55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汉字/字符分割异常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47C27-7C01-4BDF-9BEB-6EE498EB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6712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切多、切少或粘连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C719D-8B57-4856-81C0-354DEF8F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67125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加入过宽拆分、窄片合并和低质量段过滤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643AA-77F1-40C9-ADBE-273DB953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10668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2853B-5D36-417C-B985-9AC72B52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易混字符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99469-39C5-48FD-8272-D11A99F8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5292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L/1、8/B 等字符混淆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0B6EBC-7014-4BF1-909D-F0CAE44F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52925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增加项目样本增强，并按位置限制类别空间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74D50-B0F9-4B5E-A856-0F877144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668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D43D1-E953-44ED-A035-17F25629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38725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倾斜样本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AD558F-FCB5-4BF5-8CEC-DB2FB0F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3872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9.png 等样本候选区域不稳定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BF43B-D74E-42B3-8727-8ECF37DB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38725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保留中间图用于定位，持续调参验证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4D7B80-35BD-4990-9A9F-1151B24A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5324B-265A-4981-9C5A-DE156A82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9687FA-7C80-409F-A838-ECA6037D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676795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A54567-C78C-4275-B0C4-09E45213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最终实验结果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11E62-58AF-4047-AF77-D9958D52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586FF-118B-4F46-A1C8-34B9B1EB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在项目测试图片上重新运行最终程序，输出识别文本和过程图像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894B6-02A5-4572-B13A-7AF46492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FEE45-FD39-4A3A-BA1F-824F9821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测试图片数量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46AD6-5F1E-439A-95BA-3EC6699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573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F766E"/>
                </a:solidFill>
              </a:defRPr>
            </a:pPr>
            <a:r>
              <a:rPr sz="2850" b="1">
                <a:solidFill>
                  <a:srgbClr val="0F766E"/>
                </a:solidFill>
              </a:rPr>
              <a:t>18/18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1E253-D953-466F-BD6F-C1B3BF58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车牌定位成功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D6413-06AA-4845-8AF9-37B820F2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45309"/>
                </a:solidFill>
              </a:defRPr>
            </a:pPr>
            <a:r>
              <a:rPr sz="2850" b="1">
                <a:solidFill>
                  <a:srgbClr val="B4530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E3FC7-F4A6-4794-BF6B-BABE7087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人工标签样本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C0075-E6AA-4C0E-A36C-46204FC9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5803D"/>
                </a:solidFill>
              </a:defRPr>
            </a:pPr>
            <a:r>
              <a:rPr sz="2850" b="1">
                <a:solidFill>
                  <a:srgbClr val="15803D"/>
                </a:solidFill>
              </a:rPr>
              <a:t>17/17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E8060-6472-42B7-9AF6-37E9EB63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标签样本识别正确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B2B20-8C91-4612-89E2-369A099C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95631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26587-C520-40A4-A3F5-61A3F2D8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242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验证命令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E9257-738B-4007-950D-BD88F653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052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py license_plate_app.py -i test_images -o output_delivery_check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0C3CF-38BD-488D-AF14-CB6F85F5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说明：5.png 原图过于模糊，未纳入人工标准标签；但程序仍会输出定位和分割过程，便于分析。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39161-4DB7-4EF6-A20C-BE4F093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2BE10-F141-4109-8615-F207A2A4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21771-B1F9-4940-A368-026B4409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477332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D383C6-7EA7-4F05-AA85-6D8DCD56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最终输出示例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5C425-828C-426E-9E8A-444E77FF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CCA0B-6F3C-4D9E-8B4A-0F08E8FD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每个样本目录保留矫正车牌、分割图和识别文本，便于复核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3835ee0a04e26"/>
          <a:stretch xmlns:a="http://schemas.openxmlformats.org/drawingml/2006/main"/>
        </p:blipFill>
        <p:spPr>
          <a:xfrm xmlns:a="http://schemas.openxmlformats.org/drawingml/2006/main">
            <a:off x="1043869" y="1619250"/>
            <a:ext cx="1703211" cy="6477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40b66999645f1"/>
          <a:stretch xmlns:a="http://schemas.openxmlformats.org/drawingml/2006/main"/>
        </p:blipFill>
        <p:spPr>
          <a:xfrm xmlns:a="http://schemas.openxmlformats.org/drawingml/2006/main">
            <a:off x="800100" y="2409825"/>
            <a:ext cx="2190750" cy="66675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8B9D4-2687-4407-987D-C2B1E154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样本 2：京AG6156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86e0f6bb143db"/>
          <a:stretch xmlns:a="http://schemas.openxmlformats.org/drawingml/2006/main"/>
        </p:blipFill>
        <p:spPr>
          <a:xfrm xmlns:a="http://schemas.openxmlformats.org/drawingml/2006/main">
            <a:off x="3777615" y="1619250"/>
            <a:ext cx="1760220" cy="6477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d9c1886974a77"/>
          <a:stretch xmlns:a="http://schemas.openxmlformats.org/drawingml/2006/main"/>
        </p:blipFill>
        <p:spPr>
          <a:xfrm xmlns:a="http://schemas.openxmlformats.org/drawingml/2006/main">
            <a:off x="3562350" y="2421622"/>
            <a:ext cx="2190750" cy="643156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ADD22-A2BE-44F4-8E03-673F4F08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样本 4：川A8H458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e12d06ee544bd"/>
          <a:stretch xmlns:a="http://schemas.openxmlformats.org/drawingml/2006/main"/>
        </p:blipFill>
        <p:spPr>
          <a:xfrm xmlns:a="http://schemas.openxmlformats.org/drawingml/2006/main">
            <a:off x="6896100" y="1619250"/>
            <a:ext cx="1047750" cy="6477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688487f324eb5"/>
          <a:stretch xmlns:a="http://schemas.openxmlformats.org/drawingml/2006/main"/>
        </p:blipFill>
        <p:spPr>
          <a:xfrm xmlns:a="http://schemas.openxmlformats.org/drawingml/2006/main">
            <a:off x="6730846" y="2400300"/>
            <a:ext cx="1378258" cy="6858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F7152-77BE-4BD4-91DD-8E3F55E5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样本 9：浙B999AA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298e5a9c84148"/>
          <a:stretch xmlns:a="http://schemas.openxmlformats.org/drawingml/2006/main"/>
        </p:blipFill>
        <p:spPr>
          <a:xfrm xmlns:a="http://schemas.openxmlformats.org/drawingml/2006/main">
            <a:off x="9308178" y="1619250"/>
            <a:ext cx="1748094" cy="6477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82d619eab4a1d"/>
          <a:stretch xmlns:a="http://schemas.openxmlformats.org/drawingml/2006/main"/>
        </p:blipFill>
        <p:spPr>
          <a:xfrm xmlns:a="http://schemas.openxmlformats.org/drawingml/2006/main">
            <a:off x="9086850" y="2418301"/>
            <a:ext cx="2190750" cy="649799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782C1-9C42-4C7C-BC4F-D6A70D0E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00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样本 10：京A12345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A03B5-AC11-4BC8-8E2F-CF6C4183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975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交付目录中的 output_delivery_check 保留了所有测试图片的同类输出，老师可以逐张打开核对。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FF5818-1E81-4751-A653-05EA1531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1B1A8-AD7E-47CE-9A36-AC7FBC43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C8DE28-E4AF-4F21-8556-7C4ECF0C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940235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9004DF-DE63-4A87-B51A-1DCCEBAC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最终提交文件与总结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B45BA-DB74-418F-BBCA-A62F406B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1CD1A-EC30-4295-972C-73A6E4A5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提交包按中文目录整理，包含源码、模型、测试图片、结果和汇报材料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BF59F-B967-4761-9AAC-C96CF0F7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1000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2268B-80AB-430F-BB13-9D7F7306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97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中文目录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F3FE2-3FD0-418F-BF11-86B52846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09725"/>
            <a:ext cx="720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E310B-BCFC-449D-9B53-DA4ECDEB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00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24F15-BE97-48E1-996F-374255E8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01_项目源码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BA928-FFF2-40B1-A879-7FBA576A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24075"/>
            <a:ext cx="720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主程序、训练脚本、数据转换脚本和依赖清单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BF0EC-AB24-4217-A7DB-0DA57121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000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03395-C078-4D34-9183-BC752828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384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02_模型文件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74696-B32A-46AC-8BA3-28391F4C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720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三个位置专用 SVM 模型与模型配置文件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56202-F2D6-46EB-B1FE-FDE5A90D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000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BB72B-5601-45D0-9775-396126AC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527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03_测试图片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66520-9DED-41D7-82AA-24601B91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52775"/>
            <a:ext cx="720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用于最终验证的车辆图片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4EB44-C41A-492C-B31E-ABE81C64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000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73C83-33BC-40D6-9CAC-7BAEBD99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671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04_识别结果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3192D-7F85-4185-A746-E0C77223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67125"/>
            <a:ext cx="720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每张图片的车牌、二值化、分割、字符和 result.txt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ED96C-670E-4CF1-B9B5-93FAD8D6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000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2E3790-1707-41F4-892B-7E1EDF66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814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05_PPT过程素材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901A3-D056-47B9-AEB0-38070DA8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81475"/>
            <a:ext cx="720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汇报中展示的图像处理真实中间结果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62ACB-F92F-476C-ADA2-5492158A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000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02386-4084-46D2-97B2-CD087970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958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06_汇报PPT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DFA15-41BA-4008-BBB6-6E895346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95825"/>
            <a:ext cx="720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本学术过程版项目汇报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67FA1D-759C-448A-96F3-98F2DD33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000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5E6BF2-4701-43AD-AE43-02F3CB2E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01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07_说明文档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575F2B-06AE-4000-A7A0-F1766CA2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0175"/>
            <a:ext cx="720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运行说明、项目说明和 CCPD 转换报告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35B504-F6CD-4595-8680-40744C94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578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结论：本项目完成了从 CCPD 数据解析、字符训练集构建、SVM 训练到车辆图片识别验证的完整闭环；后续可继续替换为深度学习检测/识别模型以提升复杂场景泛化能力。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7FF0EE-2A92-4890-97B2-E3D64E9D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98DF21-2F71-4DD6-A4DA-D3277C88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车辆车牌识别课程项目 · 基于 CCPD 与位置专用 SVM 的实现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BB2B1E-7A62-4403-98F4-8C12EBF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65160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2026-06-21T12:39:55.0120000Z</dcterms:created>
  <dcterms:modified xsi:type="dcterms:W3CDTF">2026-06-21T12:39:55.0130000Z</dcterms:modified>
</coreProperties>
</file>